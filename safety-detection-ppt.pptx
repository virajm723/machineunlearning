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6" r:id="rId4"/>
    <p:sldId id="267"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29C21-E548-3CAA-7D58-281F3AFA09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9D396A7-51A7-44A9-F19D-CB667DE131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C583E84-4764-859D-B49D-C7B3FDAE2AC9}"/>
              </a:ext>
            </a:extLst>
          </p:cNvPr>
          <p:cNvSpPr>
            <a:spLocks noGrp="1"/>
          </p:cNvSpPr>
          <p:nvPr>
            <p:ph type="dt" sz="half" idx="10"/>
          </p:nvPr>
        </p:nvSpPr>
        <p:spPr/>
        <p:txBody>
          <a:bodyPr/>
          <a:lstStyle/>
          <a:p>
            <a:fld id="{C729E945-583E-4713-8582-817E809D659D}" type="datetimeFigureOut">
              <a:rPr lang="en-IN" smtClean="0"/>
              <a:t>24-03-2026</a:t>
            </a:fld>
            <a:endParaRPr lang="en-IN"/>
          </a:p>
        </p:txBody>
      </p:sp>
      <p:sp>
        <p:nvSpPr>
          <p:cNvPr id="5" name="Footer Placeholder 4">
            <a:extLst>
              <a:ext uri="{FF2B5EF4-FFF2-40B4-BE49-F238E27FC236}">
                <a16:creationId xmlns:a16="http://schemas.microsoft.com/office/drawing/2014/main" id="{185027B0-2819-031A-D847-6E099FC30E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9C86BE-2B62-06B4-BB3E-28FFA8EB941C}"/>
              </a:ext>
            </a:extLst>
          </p:cNvPr>
          <p:cNvSpPr>
            <a:spLocks noGrp="1"/>
          </p:cNvSpPr>
          <p:nvPr>
            <p:ph type="sldNum" sz="quarter" idx="12"/>
          </p:nvPr>
        </p:nvSpPr>
        <p:spPr/>
        <p:txBody>
          <a:bodyPr/>
          <a:lstStyle/>
          <a:p>
            <a:fld id="{1D769E26-C005-4757-8197-95E2881E0D21}" type="slidenum">
              <a:rPr lang="en-IN" smtClean="0"/>
              <a:t>‹#›</a:t>
            </a:fld>
            <a:endParaRPr lang="en-IN"/>
          </a:p>
        </p:txBody>
      </p:sp>
    </p:spTree>
    <p:extLst>
      <p:ext uri="{BB962C8B-B14F-4D97-AF65-F5344CB8AC3E}">
        <p14:creationId xmlns:p14="http://schemas.microsoft.com/office/powerpoint/2010/main" val="1452554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B3194-66DA-6BE6-F9B4-C0DAFC2D01E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0EC4061-4D31-EE94-453E-815ABFD06C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D3498D-677D-CDD7-695F-824F843EF623}"/>
              </a:ext>
            </a:extLst>
          </p:cNvPr>
          <p:cNvSpPr>
            <a:spLocks noGrp="1"/>
          </p:cNvSpPr>
          <p:nvPr>
            <p:ph type="dt" sz="half" idx="10"/>
          </p:nvPr>
        </p:nvSpPr>
        <p:spPr/>
        <p:txBody>
          <a:bodyPr/>
          <a:lstStyle/>
          <a:p>
            <a:fld id="{C729E945-583E-4713-8582-817E809D659D}" type="datetimeFigureOut">
              <a:rPr lang="en-IN" smtClean="0"/>
              <a:t>24-03-2026</a:t>
            </a:fld>
            <a:endParaRPr lang="en-IN"/>
          </a:p>
        </p:txBody>
      </p:sp>
      <p:sp>
        <p:nvSpPr>
          <p:cNvPr id="5" name="Footer Placeholder 4">
            <a:extLst>
              <a:ext uri="{FF2B5EF4-FFF2-40B4-BE49-F238E27FC236}">
                <a16:creationId xmlns:a16="http://schemas.microsoft.com/office/drawing/2014/main" id="{E995CCBA-A437-0171-EE6B-5B6311BC3C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CA6428-9E50-5FAF-83AB-2B1A45DC0270}"/>
              </a:ext>
            </a:extLst>
          </p:cNvPr>
          <p:cNvSpPr>
            <a:spLocks noGrp="1"/>
          </p:cNvSpPr>
          <p:nvPr>
            <p:ph type="sldNum" sz="quarter" idx="12"/>
          </p:nvPr>
        </p:nvSpPr>
        <p:spPr/>
        <p:txBody>
          <a:bodyPr/>
          <a:lstStyle/>
          <a:p>
            <a:fld id="{1D769E26-C005-4757-8197-95E2881E0D21}" type="slidenum">
              <a:rPr lang="en-IN" smtClean="0"/>
              <a:t>‹#›</a:t>
            </a:fld>
            <a:endParaRPr lang="en-IN"/>
          </a:p>
        </p:txBody>
      </p:sp>
    </p:spTree>
    <p:extLst>
      <p:ext uri="{BB962C8B-B14F-4D97-AF65-F5344CB8AC3E}">
        <p14:creationId xmlns:p14="http://schemas.microsoft.com/office/powerpoint/2010/main" val="4913015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0013B-739D-5483-7B74-5C98A9A3DC0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F0E5D40-03A5-D647-C7FF-17089B5C5B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34FAB9-9D20-81A7-19CC-62940489BD61}"/>
              </a:ext>
            </a:extLst>
          </p:cNvPr>
          <p:cNvSpPr>
            <a:spLocks noGrp="1"/>
          </p:cNvSpPr>
          <p:nvPr>
            <p:ph type="dt" sz="half" idx="10"/>
          </p:nvPr>
        </p:nvSpPr>
        <p:spPr/>
        <p:txBody>
          <a:bodyPr/>
          <a:lstStyle/>
          <a:p>
            <a:fld id="{C729E945-583E-4713-8582-817E809D659D}" type="datetimeFigureOut">
              <a:rPr lang="en-IN" smtClean="0"/>
              <a:t>24-03-2026</a:t>
            </a:fld>
            <a:endParaRPr lang="en-IN"/>
          </a:p>
        </p:txBody>
      </p:sp>
      <p:sp>
        <p:nvSpPr>
          <p:cNvPr id="5" name="Footer Placeholder 4">
            <a:extLst>
              <a:ext uri="{FF2B5EF4-FFF2-40B4-BE49-F238E27FC236}">
                <a16:creationId xmlns:a16="http://schemas.microsoft.com/office/drawing/2014/main" id="{6B2B0B04-66F9-DB28-DA1C-9771D0E6B8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F0F414-98F8-90E8-7481-E32DEBCE493A}"/>
              </a:ext>
            </a:extLst>
          </p:cNvPr>
          <p:cNvSpPr>
            <a:spLocks noGrp="1"/>
          </p:cNvSpPr>
          <p:nvPr>
            <p:ph type="sldNum" sz="quarter" idx="12"/>
          </p:nvPr>
        </p:nvSpPr>
        <p:spPr/>
        <p:txBody>
          <a:bodyPr/>
          <a:lstStyle/>
          <a:p>
            <a:fld id="{1D769E26-C005-4757-8197-95E2881E0D21}" type="slidenum">
              <a:rPr lang="en-IN" smtClean="0"/>
              <a:t>‹#›</a:t>
            </a:fld>
            <a:endParaRPr lang="en-IN"/>
          </a:p>
        </p:txBody>
      </p:sp>
    </p:spTree>
    <p:extLst>
      <p:ext uri="{BB962C8B-B14F-4D97-AF65-F5344CB8AC3E}">
        <p14:creationId xmlns:p14="http://schemas.microsoft.com/office/powerpoint/2010/main" val="3714056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AA331-AC73-0BC8-754B-83E9C5F2503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A56D18-CC1A-8951-DF2F-C6A2455939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C30584-A1F1-A837-EEF0-637D1B9D67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AE13BD4-0017-20BE-4970-7BC404E73A8A}"/>
              </a:ext>
            </a:extLst>
          </p:cNvPr>
          <p:cNvSpPr>
            <a:spLocks noGrp="1"/>
          </p:cNvSpPr>
          <p:nvPr>
            <p:ph type="dt" sz="half" idx="10"/>
          </p:nvPr>
        </p:nvSpPr>
        <p:spPr/>
        <p:txBody>
          <a:bodyPr/>
          <a:lstStyle/>
          <a:p>
            <a:fld id="{C729E945-583E-4713-8582-817E809D659D}" type="datetimeFigureOut">
              <a:rPr lang="en-IN" smtClean="0"/>
              <a:t>24-03-2026</a:t>
            </a:fld>
            <a:endParaRPr lang="en-IN"/>
          </a:p>
        </p:txBody>
      </p:sp>
      <p:sp>
        <p:nvSpPr>
          <p:cNvPr id="6" name="Footer Placeholder 5">
            <a:extLst>
              <a:ext uri="{FF2B5EF4-FFF2-40B4-BE49-F238E27FC236}">
                <a16:creationId xmlns:a16="http://schemas.microsoft.com/office/drawing/2014/main" id="{2996D199-D20C-4331-D7A3-08ED1FCC203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9375714-C981-A942-7D49-DCEA1C97831E}"/>
              </a:ext>
            </a:extLst>
          </p:cNvPr>
          <p:cNvSpPr>
            <a:spLocks noGrp="1"/>
          </p:cNvSpPr>
          <p:nvPr>
            <p:ph type="sldNum" sz="quarter" idx="12"/>
          </p:nvPr>
        </p:nvSpPr>
        <p:spPr/>
        <p:txBody>
          <a:bodyPr/>
          <a:lstStyle/>
          <a:p>
            <a:fld id="{1D769E26-C005-4757-8197-95E2881E0D21}" type="slidenum">
              <a:rPr lang="en-IN" smtClean="0"/>
              <a:t>‹#›</a:t>
            </a:fld>
            <a:endParaRPr lang="en-IN"/>
          </a:p>
        </p:txBody>
      </p:sp>
    </p:spTree>
    <p:extLst>
      <p:ext uri="{BB962C8B-B14F-4D97-AF65-F5344CB8AC3E}">
        <p14:creationId xmlns:p14="http://schemas.microsoft.com/office/powerpoint/2010/main" val="4026817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BDE5F-21CC-0A32-2DEA-466153C5250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C6621A4-8419-4D68-4C74-65CE7AC6E6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35EB83-624B-6E52-7262-018782ABB1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331D2F2-B7F9-E109-39A9-B38ED24BA7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8EAF9A-20B5-A317-1F0C-D246828BD8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1F77587-6949-DBA2-C770-259414E4C94B}"/>
              </a:ext>
            </a:extLst>
          </p:cNvPr>
          <p:cNvSpPr>
            <a:spLocks noGrp="1"/>
          </p:cNvSpPr>
          <p:nvPr>
            <p:ph type="dt" sz="half" idx="10"/>
          </p:nvPr>
        </p:nvSpPr>
        <p:spPr/>
        <p:txBody>
          <a:bodyPr/>
          <a:lstStyle/>
          <a:p>
            <a:fld id="{C729E945-583E-4713-8582-817E809D659D}" type="datetimeFigureOut">
              <a:rPr lang="en-IN" smtClean="0"/>
              <a:t>24-03-2026</a:t>
            </a:fld>
            <a:endParaRPr lang="en-IN"/>
          </a:p>
        </p:txBody>
      </p:sp>
      <p:sp>
        <p:nvSpPr>
          <p:cNvPr id="8" name="Footer Placeholder 7">
            <a:extLst>
              <a:ext uri="{FF2B5EF4-FFF2-40B4-BE49-F238E27FC236}">
                <a16:creationId xmlns:a16="http://schemas.microsoft.com/office/drawing/2014/main" id="{7EAA9E7A-FE85-4E4C-C740-28FEC94E86F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9D47525-17D0-0E0C-DBF8-28B2A28028CE}"/>
              </a:ext>
            </a:extLst>
          </p:cNvPr>
          <p:cNvSpPr>
            <a:spLocks noGrp="1"/>
          </p:cNvSpPr>
          <p:nvPr>
            <p:ph type="sldNum" sz="quarter" idx="12"/>
          </p:nvPr>
        </p:nvSpPr>
        <p:spPr/>
        <p:txBody>
          <a:bodyPr/>
          <a:lstStyle/>
          <a:p>
            <a:fld id="{1D769E26-C005-4757-8197-95E2881E0D21}" type="slidenum">
              <a:rPr lang="en-IN" smtClean="0"/>
              <a:t>‹#›</a:t>
            </a:fld>
            <a:endParaRPr lang="en-IN"/>
          </a:p>
        </p:txBody>
      </p:sp>
    </p:spTree>
    <p:extLst>
      <p:ext uri="{BB962C8B-B14F-4D97-AF65-F5344CB8AC3E}">
        <p14:creationId xmlns:p14="http://schemas.microsoft.com/office/powerpoint/2010/main" val="3022102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89F3D-76A2-042B-E622-15493354EEC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1322451-6A25-F2F8-B65E-66981454D8AC}"/>
              </a:ext>
            </a:extLst>
          </p:cNvPr>
          <p:cNvSpPr>
            <a:spLocks noGrp="1"/>
          </p:cNvSpPr>
          <p:nvPr>
            <p:ph type="dt" sz="half" idx="10"/>
          </p:nvPr>
        </p:nvSpPr>
        <p:spPr/>
        <p:txBody>
          <a:bodyPr/>
          <a:lstStyle/>
          <a:p>
            <a:fld id="{C729E945-583E-4713-8582-817E809D659D}" type="datetimeFigureOut">
              <a:rPr lang="en-IN" smtClean="0"/>
              <a:t>24-03-2026</a:t>
            </a:fld>
            <a:endParaRPr lang="en-IN"/>
          </a:p>
        </p:txBody>
      </p:sp>
      <p:sp>
        <p:nvSpPr>
          <p:cNvPr id="4" name="Footer Placeholder 3">
            <a:extLst>
              <a:ext uri="{FF2B5EF4-FFF2-40B4-BE49-F238E27FC236}">
                <a16:creationId xmlns:a16="http://schemas.microsoft.com/office/drawing/2014/main" id="{4C8BB86B-B46B-4D82-4D20-57D8C92DBCC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EEBEF60-18E0-4411-7B7B-6D616F15DD38}"/>
              </a:ext>
            </a:extLst>
          </p:cNvPr>
          <p:cNvSpPr>
            <a:spLocks noGrp="1"/>
          </p:cNvSpPr>
          <p:nvPr>
            <p:ph type="sldNum" sz="quarter" idx="12"/>
          </p:nvPr>
        </p:nvSpPr>
        <p:spPr/>
        <p:txBody>
          <a:bodyPr/>
          <a:lstStyle/>
          <a:p>
            <a:fld id="{1D769E26-C005-4757-8197-95E2881E0D21}" type="slidenum">
              <a:rPr lang="en-IN" smtClean="0"/>
              <a:t>‹#›</a:t>
            </a:fld>
            <a:endParaRPr lang="en-IN"/>
          </a:p>
        </p:txBody>
      </p:sp>
    </p:spTree>
    <p:extLst>
      <p:ext uri="{BB962C8B-B14F-4D97-AF65-F5344CB8AC3E}">
        <p14:creationId xmlns:p14="http://schemas.microsoft.com/office/powerpoint/2010/main" val="3595955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DBAE5A-F24E-91DC-B49F-4538E7FB60EF}"/>
              </a:ext>
            </a:extLst>
          </p:cNvPr>
          <p:cNvSpPr>
            <a:spLocks noGrp="1"/>
          </p:cNvSpPr>
          <p:nvPr>
            <p:ph type="dt" sz="half" idx="10"/>
          </p:nvPr>
        </p:nvSpPr>
        <p:spPr/>
        <p:txBody>
          <a:bodyPr/>
          <a:lstStyle/>
          <a:p>
            <a:fld id="{C729E945-583E-4713-8582-817E809D659D}" type="datetimeFigureOut">
              <a:rPr lang="en-IN" smtClean="0"/>
              <a:t>24-03-2026</a:t>
            </a:fld>
            <a:endParaRPr lang="en-IN"/>
          </a:p>
        </p:txBody>
      </p:sp>
      <p:sp>
        <p:nvSpPr>
          <p:cNvPr id="3" name="Footer Placeholder 2">
            <a:extLst>
              <a:ext uri="{FF2B5EF4-FFF2-40B4-BE49-F238E27FC236}">
                <a16:creationId xmlns:a16="http://schemas.microsoft.com/office/drawing/2014/main" id="{43D6C40B-725E-E8E6-D815-239C675E129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252E99F-B071-B9A4-2535-75FD96CC66B2}"/>
              </a:ext>
            </a:extLst>
          </p:cNvPr>
          <p:cNvSpPr>
            <a:spLocks noGrp="1"/>
          </p:cNvSpPr>
          <p:nvPr>
            <p:ph type="sldNum" sz="quarter" idx="12"/>
          </p:nvPr>
        </p:nvSpPr>
        <p:spPr/>
        <p:txBody>
          <a:bodyPr/>
          <a:lstStyle/>
          <a:p>
            <a:fld id="{1D769E26-C005-4757-8197-95E2881E0D21}" type="slidenum">
              <a:rPr lang="en-IN" smtClean="0"/>
              <a:t>‹#›</a:t>
            </a:fld>
            <a:endParaRPr lang="en-IN"/>
          </a:p>
        </p:txBody>
      </p:sp>
    </p:spTree>
    <p:extLst>
      <p:ext uri="{BB962C8B-B14F-4D97-AF65-F5344CB8AC3E}">
        <p14:creationId xmlns:p14="http://schemas.microsoft.com/office/powerpoint/2010/main" val="798192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3CE82-67D0-876F-640E-5CEF40BB52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3BC1C6C-9B5A-C076-DCDC-3E06BBEF61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8A6E316-A6C7-6A45-3983-6C65E00CD5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1267C3-1F7B-ACD6-6D5A-C58A5BF6BE52}"/>
              </a:ext>
            </a:extLst>
          </p:cNvPr>
          <p:cNvSpPr>
            <a:spLocks noGrp="1"/>
          </p:cNvSpPr>
          <p:nvPr>
            <p:ph type="dt" sz="half" idx="10"/>
          </p:nvPr>
        </p:nvSpPr>
        <p:spPr/>
        <p:txBody>
          <a:bodyPr/>
          <a:lstStyle/>
          <a:p>
            <a:fld id="{C729E945-583E-4713-8582-817E809D659D}" type="datetimeFigureOut">
              <a:rPr lang="en-IN" smtClean="0"/>
              <a:t>24-03-2026</a:t>
            </a:fld>
            <a:endParaRPr lang="en-IN"/>
          </a:p>
        </p:txBody>
      </p:sp>
      <p:sp>
        <p:nvSpPr>
          <p:cNvPr id="6" name="Footer Placeholder 5">
            <a:extLst>
              <a:ext uri="{FF2B5EF4-FFF2-40B4-BE49-F238E27FC236}">
                <a16:creationId xmlns:a16="http://schemas.microsoft.com/office/drawing/2014/main" id="{847DACD3-E2B1-D4DC-DCFB-93A214C625C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7A4C656-499B-E858-4933-C274B94D0A46}"/>
              </a:ext>
            </a:extLst>
          </p:cNvPr>
          <p:cNvSpPr>
            <a:spLocks noGrp="1"/>
          </p:cNvSpPr>
          <p:nvPr>
            <p:ph type="sldNum" sz="quarter" idx="12"/>
          </p:nvPr>
        </p:nvSpPr>
        <p:spPr/>
        <p:txBody>
          <a:bodyPr/>
          <a:lstStyle/>
          <a:p>
            <a:fld id="{1D769E26-C005-4757-8197-95E2881E0D21}" type="slidenum">
              <a:rPr lang="en-IN" smtClean="0"/>
              <a:t>‹#›</a:t>
            </a:fld>
            <a:endParaRPr lang="en-IN"/>
          </a:p>
        </p:txBody>
      </p:sp>
    </p:spTree>
    <p:extLst>
      <p:ext uri="{BB962C8B-B14F-4D97-AF65-F5344CB8AC3E}">
        <p14:creationId xmlns:p14="http://schemas.microsoft.com/office/powerpoint/2010/main" val="35029114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004A8-3505-4D7F-B54E-85FFEA7B2A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25E5A17-DF07-1A6E-DBD4-8F9D9AFF1B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11EC96E-405D-42F7-A30C-7AFB14D96F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1EC7D1-6E36-9171-EB3D-2D75B31715A1}"/>
              </a:ext>
            </a:extLst>
          </p:cNvPr>
          <p:cNvSpPr>
            <a:spLocks noGrp="1"/>
          </p:cNvSpPr>
          <p:nvPr>
            <p:ph type="dt" sz="half" idx="10"/>
          </p:nvPr>
        </p:nvSpPr>
        <p:spPr/>
        <p:txBody>
          <a:bodyPr/>
          <a:lstStyle/>
          <a:p>
            <a:fld id="{C729E945-583E-4713-8582-817E809D659D}" type="datetimeFigureOut">
              <a:rPr lang="en-IN" smtClean="0"/>
              <a:t>24-03-2026</a:t>
            </a:fld>
            <a:endParaRPr lang="en-IN"/>
          </a:p>
        </p:txBody>
      </p:sp>
      <p:sp>
        <p:nvSpPr>
          <p:cNvPr id="6" name="Footer Placeholder 5">
            <a:extLst>
              <a:ext uri="{FF2B5EF4-FFF2-40B4-BE49-F238E27FC236}">
                <a16:creationId xmlns:a16="http://schemas.microsoft.com/office/drawing/2014/main" id="{0687E949-7EBA-9B14-5430-22FBA686240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806657B-4968-A71E-A13A-C21EBA0C7DDE}"/>
              </a:ext>
            </a:extLst>
          </p:cNvPr>
          <p:cNvSpPr>
            <a:spLocks noGrp="1"/>
          </p:cNvSpPr>
          <p:nvPr>
            <p:ph type="sldNum" sz="quarter" idx="12"/>
          </p:nvPr>
        </p:nvSpPr>
        <p:spPr/>
        <p:txBody>
          <a:bodyPr/>
          <a:lstStyle/>
          <a:p>
            <a:fld id="{1D769E26-C005-4757-8197-95E2881E0D21}" type="slidenum">
              <a:rPr lang="en-IN" smtClean="0"/>
              <a:t>‹#›</a:t>
            </a:fld>
            <a:endParaRPr lang="en-IN"/>
          </a:p>
        </p:txBody>
      </p:sp>
    </p:spTree>
    <p:extLst>
      <p:ext uri="{BB962C8B-B14F-4D97-AF65-F5344CB8AC3E}">
        <p14:creationId xmlns:p14="http://schemas.microsoft.com/office/powerpoint/2010/main" val="124742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BEB51-0CD3-A27E-CCA9-FA1F5828BF1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FDBA3C9-E1D9-3284-A654-BFB0B7BADF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324DB26-FD90-1B18-A607-B8D100BD04D5}"/>
              </a:ext>
            </a:extLst>
          </p:cNvPr>
          <p:cNvSpPr>
            <a:spLocks noGrp="1"/>
          </p:cNvSpPr>
          <p:nvPr>
            <p:ph type="dt" sz="half" idx="10"/>
          </p:nvPr>
        </p:nvSpPr>
        <p:spPr/>
        <p:txBody>
          <a:bodyPr/>
          <a:lstStyle/>
          <a:p>
            <a:fld id="{C729E945-583E-4713-8582-817E809D659D}" type="datetimeFigureOut">
              <a:rPr lang="en-IN" smtClean="0"/>
              <a:t>24-03-2026</a:t>
            </a:fld>
            <a:endParaRPr lang="en-IN"/>
          </a:p>
        </p:txBody>
      </p:sp>
      <p:sp>
        <p:nvSpPr>
          <p:cNvPr id="5" name="Footer Placeholder 4">
            <a:extLst>
              <a:ext uri="{FF2B5EF4-FFF2-40B4-BE49-F238E27FC236}">
                <a16:creationId xmlns:a16="http://schemas.microsoft.com/office/drawing/2014/main" id="{CABAC00E-B8ED-7341-1644-C2B5F044F7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FD0064-6E62-7E4A-2186-727349D62B6A}"/>
              </a:ext>
            </a:extLst>
          </p:cNvPr>
          <p:cNvSpPr>
            <a:spLocks noGrp="1"/>
          </p:cNvSpPr>
          <p:nvPr>
            <p:ph type="sldNum" sz="quarter" idx="12"/>
          </p:nvPr>
        </p:nvSpPr>
        <p:spPr/>
        <p:txBody>
          <a:bodyPr/>
          <a:lstStyle/>
          <a:p>
            <a:fld id="{1D769E26-C005-4757-8197-95E2881E0D21}" type="slidenum">
              <a:rPr lang="en-IN" smtClean="0"/>
              <a:t>‹#›</a:t>
            </a:fld>
            <a:endParaRPr lang="en-IN"/>
          </a:p>
        </p:txBody>
      </p:sp>
    </p:spTree>
    <p:extLst>
      <p:ext uri="{BB962C8B-B14F-4D97-AF65-F5344CB8AC3E}">
        <p14:creationId xmlns:p14="http://schemas.microsoft.com/office/powerpoint/2010/main" val="500221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0D6DDB-C512-9347-CE5D-66B8777642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5B80BDB-5635-F4BD-9B89-E0CAD46BA6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18489E5-B95D-011E-B2C5-C2AC06D3CFE6}"/>
              </a:ext>
            </a:extLst>
          </p:cNvPr>
          <p:cNvSpPr>
            <a:spLocks noGrp="1"/>
          </p:cNvSpPr>
          <p:nvPr>
            <p:ph type="dt" sz="half" idx="10"/>
          </p:nvPr>
        </p:nvSpPr>
        <p:spPr/>
        <p:txBody>
          <a:bodyPr/>
          <a:lstStyle/>
          <a:p>
            <a:fld id="{C729E945-583E-4713-8582-817E809D659D}" type="datetimeFigureOut">
              <a:rPr lang="en-IN" smtClean="0"/>
              <a:t>24-03-2026</a:t>
            </a:fld>
            <a:endParaRPr lang="en-IN"/>
          </a:p>
        </p:txBody>
      </p:sp>
      <p:sp>
        <p:nvSpPr>
          <p:cNvPr id="5" name="Footer Placeholder 4">
            <a:extLst>
              <a:ext uri="{FF2B5EF4-FFF2-40B4-BE49-F238E27FC236}">
                <a16:creationId xmlns:a16="http://schemas.microsoft.com/office/drawing/2014/main" id="{7C6FFAB5-6170-BDC7-6156-C9EB065803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01C436-881D-03FA-AB2C-D1CB6718E697}"/>
              </a:ext>
            </a:extLst>
          </p:cNvPr>
          <p:cNvSpPr>
            <a:spLocks noGrp="1"/>
          </p:cNvSpPr>
          <p:nvPr>
            <p:ph type="sldNum" sz="quarter" idx="12"/>
          </p:nvPr>
        </p:nvSpPr>
        <p:spPr/>
        <p:txBody>
          <a:bodyPr/>
          <a:lstStyle/>
          <a:p>
            <a:fld id="{1D769E26-C005-4757-8197-95E2881E0D21}" type="slidenum">
              <a:rPr lang="en-IN" smtClean="0"/>
              <a:t>‹#›</a:t>
            </a:fld>
            <a:endParaRPr lang="en-IN"/>
          </a:p>
        </p:txBody>
      </p:sp>
    </p:spTree>
    <p:extLst>
      <p:ext uri="{BB962C8B-B14F-4D97-AF65-F5344CB8AC3E}">
        <p14:creationId xmlns:p14="http://schemas.microsoft.com/office/powerpoint/2010/main" val="742441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287775-2200-B11C-24C0-C5730F4616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573E813-DA1C-B56D-DD20-E3DDE2E4EF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0D24C1-5E0C-9B89-AD16-6012491D21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29E945-583E-4713-8582-817E809D659D}" type="datetimeFigureOut">
              <a:rPr lang="en-IN" smtClean="0"/>
              <a:t>24-03-2026</a:t>
            </a:fld>
            <a:endParaRPr lang="en-IN"/>
          </a:p>
        </p:txBody>
      </p:sp>
      <p:sp>
        <p:nvSpPr>
          <p:cNvPr id="5" name="Footer Placeholder 4">
            <a:extLst>
              <a:ext uri="{FF2B5EF4-FFF2-40B4-BE49-F238E27FC236}">
                <a16:creationId xmlns:a16="http://schemas.microsoft.com/office/drawing/2014/main" id="{304F53FC-9BD9-8AAE-0B7C-2E1ADEE4E6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D0F9526-8675-EDF7-4413-5162B00249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D769E26-C005-4757-8197-95E2881E0D21}" type="slidenum">
              <a:rPr lang="en-IN" smtClean="0"/>
              <a:t>‹#›</a:t>
            </a:fld>
            <a:endParaRPr lang="en-IN"/>
          </a:p>
        </p:txBody>
      </p:sp>
    </p:spTree>
    <p:extLst>
      <p:ext uri="{BB962C8B-B14F-4D97-AF65-F5344CB8AC3E}">
        <p14:creationId xmlns:p14="http://schemas.microsoft.com/office/powerpoint/2010/main" val="4737447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2" name="Freeform: Shape 11">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DFD3C96E-F544-88F7-7C36-ED996783A75E}"/>
              </a:ext>
            </a:extLst>
          </p:cNvPr>
          <p:cNvSpPr>
            <a:spLocks noGrp="1"/>
          </p:cNvSpPr>
          <p:nvPr>
            <p:ph type="ctrTitle"/>
          </p:nvPr>
        </p:nvSpPr>
        <p:spPr>
          <a:xfrm>
            <a:off x="3502731" y="1542402"/>
            <a:ext cx="5186842" cy="2387918"/>
          </a:xfrm>
        </p:spPr>
        <p:txBody>
          <a:bodyPr anchor="b">
            <a:normAutofit fontScale="90000"/>
          </a:bodyPr>
          <a:lstStyle/>
          <a:p>
            <a:r>
              <a:rPr lang="en-IN" sz="5200" dirty="0">
                <a:solidFill>
                  <a:schemeClr val="tx2"/>
                </a:solidFill>
              </a:rPr>
              <a:t>Safety Equipment Detection model using Vision Transformer</a:t>
            </a:r>
          </a:p>
        </p:txBody>
      </p:sp>
      <p:sp>
        <p:nvSpPr>
          <p:cNvPr id="3" name="Subtitle 2">
            <a:extLst>
              <a:ext uri="{FF2B5EF4-FFF2-40B4-BE49-F238E27FC236}">
                <a16:creationId xmlns:a16="http://schemas.microsoft.com/office/drawing/2014/main" id="{AF7C4819-498D-0B2A-1257-F1BF5632C6A1}"/>
              </a:ext>
            </a:extLst>
          </p:cNvPr>
          <p:cNvSpPr>
            <a:spLocks noGrp="1"/>
          </p:cNvSpPr>
          <p:nvPr>
            <p:ph type="subTitle" idx="1"/>
          </p:nvPr>
        </p:nvSpPr>
        <p:spPr>
          <a:xfrm>
            <a:off x="3501830" y="4117515"/>
            <a:ext cx="5188034" cy="682079"/>
          </a:xfrm>
        </p:spPr>
        <p:txBody>
          <a:bodyPr>
            <a:normAutofit/>
          </a:bodyPr>
          <a:lstStyle/>
          <a:p>
            <a:r>
              <a:rPr lang="en-IN" sz="2800" dirty="0">
                <a:solidFill>
                  <a:schemeClr val="tx2"/>
                </a:solidFill>
                <a:latin typeface="Amasis MT Pro Light" panose="020F0502020204030204" pitchFamily="18" charset="0"/>
              </a:rPr>
              <a:t>By Viraj</a:t>
            </a: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2" name="Picture 21">
            <a:extLst>
              <a:ext uri="{FF2B5EF4-FFF2-40B4-BE49-F238E27FC236}">
                <a16:creationId xmlns:a16="http://schemas.microsoft.com/office/drawing/2014/main" id="{3A56F2B2-4F28-88BF-A7C2-FC540551BE62}"/>
              </a:ext>
            </a:extLst>
          </p:cNvPr>
          <p:cNvPicPr>
            <a:picLocks noChangeAspect="1"/>
          </p:cNvPicPr>
          <p:nvPr/>
        </p:nvPicPr>
        <p:blipFill>
          <a:blip r:embed="rId2"/>
          <a:stretch>
            <a:fillRect/>
          </a:stretch>
        </p:blipFill>
        <p:spPr>
          <a:xfrm>
            <a:off x="10804781" y="91952"/>
            <a:ext cx="1238250" cy="1304925"/>
          </a:xfrm>
          <a:prstGeom prst="rect">
            <a:avLst/>
          </a:prstGeom>
        </p:spPr>
      </p:pic>
    </p:spTree>
    <p:extLst>
      <p:ext uri="{BB962C8B-B14F-4D97-AF65-F5344CB8AC3E}">
        <p14:creationId xmlns:p14="http://schemas.microsoft.com/office/powerpoint/2010/main" val="3660736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AAC1D6D0-DB42-E2AF-A288-075ACE88EF48}"/>
              </a:ext>
            </a:extLst>
          </p:cNvPr>
          <p:cNvSpPr>
            <a:spLocks noGrp="1"/>
          </p:cNvSpPr>
          <p:nvPr>
            <p:ph type="title"/>
          </p:nvPr>
        </p:nvSpPr>
        <p:spPr>
          <a:xfrm>
            <a:off x="794767" y="-132886"/>
            <a:ext cx="9833548" cy="1330184"/>
          </a:xfrm>
        </p:spPr>
        <p:txBody>
          <a:bodyPr anchor="b">
            <a:normAutofit/>
          </a:bodyPr>
          <a:lstStyle/>
          <a:p>
            <a:r>
              <a:rPr lang="en-IN" sz="3600" b="1" dirty="0">
                <a:solidFill>
                  <a:schemeClr val="tx2"/>
                </a:solidFill>
              </a:rPr>
              <a:t>Problem Statement</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B7C4A697-0400-0F6F-F1B0-C420A282C61D}"/>
              </a:ext>
            </a:extLst>
          </p:cNvPr>
          <p:cNvSpPr>
            <a:spLocks noGrp="1"/>
          </p:cNvSpPr>
          <p:nvPr>
            <p:ph idx="1"/>
          </p:nvPr>
        </p:nvSpPr>
        <p:spPr>
          <a:xfrm>
            <a:off x="794767" y="1474434"/>
            <a:ext cx="10602466" cy="4851360"/>
          </a:xfrm>
        </p:spPr>
        <p:txBody>
          <a:bodyPr>
            <a:normAutofit lnSpcReduction="10000"/>
          </a:bodyPr>
          <a:lstStyle/>
          <a:p>
            <a:pPr>
              <a:lnSpc>
                <a:spcPct val="107000"/>
              </a:lnSpc>
              <a:spcAft>
                <a:spcPts val="800"/>
              </a:spcAft>
            </a:pPr>
            <a:r>
              <a:rPr lang="en-IN" sz="2400" kern="100" dirty="0">
                <a:effectLst/>
                <a:latin typeface="Calibri" panose="020F0502020204030204" pitchFamily="34" charset="0"/>
                <a:ea typeface="Calibri" panose="020F0502020204030204" pitchFamily="34" charset="0"/>
                <a:cs typeface="Latha" panose="020B0604020202020204" pitchFamily="34" charset="0"/>
              </a:rPr>
              <a:t>Injuries from unsafe contact with objects and equipment are a leading cause of workplace accidents, particularly in construction sites where hazards are abundant. Personal Protective Equipment (PPE), such as hard hats, is essential for safeguarding workers, but its usage is often neglected.</a:t>
            </a:r>
          </a:p>
          <a:p>
            <a:pPr>
              <a:lnSpc>
                <a:spcPct val="107000"/>
              </a:lnSpc>
              <a:spcAft>
                <a:spcPts val="800"/>
              </a:spcAft>
            </a:pPr>
            <a:r>
              <a:rPr lang="en-IN" sz="2400" kern="100" dirty="0">
                <a:effectLst/>
                <a:latin typeface="Calibri" panose="020F0502020204030204" pitchFamily="34" charset="0"/>
                <a:ea typeface="Calibri" panose="020F0502020204030204" pitchFamily="34" charset="0"/>
                <a:cs typeface="Latha" panose="020B0604020202020204" pitchFamily="34" charset="0"/>
              </a:rPr>
              <a:t>To address this issue, we aim to develop a Machine Learning model that accurately detects whether a construction worker is wearing a safety helmet. The model will operate in real-time, raising alerts for workers without helmets and ensuring only those with proper safety gear are allowed to proceed. This solution will be integrated with real-time camera systems, providing a proactive approach to enforcing safety protocols on-site. By leveraging Vision Transformers (</a:t>
            </a:r>
            <a:r>
              <a:rPr lang="en-IN" sz="2400" kern="100" dirty="0" err="1">
                <a:effectLst/>
                <a:latin typeface="Calibri" panose="020F0502020204030204" pitchFamily="34" charset="0"/>
                <a:ea typeface="Calibri" panose="020F0502020204030204" pitchFamily="34" charset="0"/>
                <a:cs typeface="Latha" panose="020B0604020202020204" pitchFamily="34" charset="0"/>
              </a:rPr>
              <a:t>ViT</a:t>
            </a:r>
            <a:r>
              <a:rPr lang="en-IN" sz="2400" kern="100" dirty="0">
                <a:effectLst/>
                <a:latin typeface="Calibri" panose="020F0502020204030204" pitchFamily="34" charset="0"/>
                <a:ea typeface="Calibri" panose="020F0502020204030204" pitchFamily="34" charset="0"/>
                <a:cs typeface="Latha" panose="020B0604020202020204" pitchFamily="34" charset="0"/>
              </a:rPr>
              <a:t>) and other advanced technologies, this model will promote a safer work environment by ensuring compliance with essential PPE requirements.</a:t>
            </a:r>
          </a:p>
          <a:p>
            <a:endParaRPr lang="en-IN" sz="1800" dirty="0">
              <a:solidFill>
                <a:schemeClr val="tx2"/>
              </a:solidFill>
            </a:endParaRPr>
          </a:p>
        </p:txBody>
      </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44080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AAC1D6D0-DB42-E2AF-A288-075ACE88EF48}"/>
              </a:ext>
            </a:extLst>
          </p:cNvPr>
          <p:cNvSpPr>
            <a:spLocks noGrp="1"/>
          </p:cNvSpPr>
          <p:nvPr>
            <p:ph type="title"/>
          </p:nvPr>
        </p:nvSpPr>
        <p:spPr>
          <a:xfrm>
            <a:off x="501690" y="-194220"/>
            <a:ext cx="9833548" cy="1330184"/>
          </a:xfrm>
        </p:spPr>
        <p:txBody>
          <a:bodyPr anchor="b">
            <a:normAutofit/>
          </a:bodyPr>
          <a:lstStyle/>
          <a:p>
            <a:r>
              <a:rPr lang="en-IN" sz="3600" b="1" dirty="0">
                <a:solidFill>
                  <a:schemeClr val="tx2"/>
                </a:solidFill>
              </a:rPr>
              <a:t>Model working and Advantages</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B7C4A697-0400-0F6F-F1B0-C420A282C61D}"/>
              </a:ext>
            </a:extLst>
          </p:cNvPr>
          <p:cNvSpPr>
            <a:spLocks noGrp="1"/>
          </p:cNvSpPr>
          <p:nvPr>
            <p:ph idx="1"/>
          </p:nvPr>
        </p:nvSpPr>
        <p:spPr>
          <a:xfrm>
            <a:off x="410308" y="1197298"/>
            <a:ext cx="11781692" cy="5660702"/>
          </a:xfrm>
        </p:spPr>
        <p:txBody>
          <a:bodyPr>
            <a:normAutofit fontScale="92500" lnSpcReduction="20000"/>
          </a:bodyPr>
          <a:lstStyle/>
          <a:p>
            <a:pPr>
              <a:lnSpc>
                <a:spcPct val="107000"/>
              </a:lnSpc>
              <a:spcAft>
                <a:spcPts val="800"/>
              </a:spcAft>
            </a:pPr>
            <a:r>
              <a:rPr lang="en-IN" sz="2100" kern="100" dirty="0">
                <a:effectLst/>
                <a:latin typeface="Calibri" panose="020F0502020204030204" pitchFamily="34" charset="0"/>
                <a:ea typeface="Calibri" panose="020F0502020204030204" pitchFamily="34" charset="0"/>
                <a:cs typeface="Latha" panose="020B0604020202020204" pitchFamily="34" charset="0"/>
              </a:rPr>
              <a:t>Our model is designed to automatically detect whether a construction worker is wearing a hard hat. It leverages a Vision Transformer (</a:t>
            </a:r>
            <a:r>
              <a:rPr lang="en-IN" sz="2100" kern="100" dirty="0" err="1">
                <a:effectLst/>
                <a:latin typeface="Calibri" panose="020F0502020204030204" pitchFamily="34" charset="0"/>
                <a:ea typeface="Calibri" panose="020F0502020204030204" pitchFamily="34" charset="0"/>
                <a:cs typeface="Latha" panose="020B0604020202020204" pitchFamily="34" charset="0"/>
              </a:rPr>
              <a:t>ViT</a:t>
            </a:r>
            <a:r>
              <a:rPr lang="en-IN" sz="2100" kern="100" dirty="0">
                <a:effectLst/>
                <a:latin typeface="Calibri" panose="020F0502020204030204" pitchFamily="34" charset="0"/>
                <a:ea typeface="Calibri" panose="020F0502020204030204" pitchFamily="34" charset="0"/>
                <a:cs typeface="Latha" panose="020B0604020202020204" pitchFamily="34" charset="0"/>
              </a:rPr>
              <a:t>) architecture, a state-of-the-art approach in computer vision that excels at image classification tasks. The model is trained on a </a:t>
            </a:r>
            <a:r>
              <a:rPr lang="en-IN" sz="2100" kern="100" dirty="0" err="1">
                <a:effectLst/>
                <a:latin typeface="Calibri" panose="020F0502020204030204" pitchFamily="34" charset="0"/>
                <a:ea typeface="Calibri" panose="020F0502020204030204" pitchFamily="34" charset="0"/>
                <a:cs typeface="Latha" panose="020B0604020202020204" pitchFamily="34" charset="0"/>
              </a:rPr>
              <a:t>labeled</a:t>
            </a:r>
            <a:r>
              <a:rPr lang="en-IN" sz="2100" kern="100" dirty="0">
                <a:effectLst/>
                <a:latin typeface="Calibri" panose="020F0502020204030204" pitchFamily="34" charset="0"/>
                <a:ea typeface="Calibri" panose="020F0502020204030204" pitchFamily="34" charset="0"/>
                <a:cs typeface="Latha" panose="020B0604020202020204" pitchFamily="34" charset="0"/>
              </a:rPr>
              <a:t> dataset of images, distinguishing between workers with and without helmets.</a:t>
            </a:r>
          </a:p>
          <a:p>
            <a:pPr>
              <a:lnSpc>
                <a:spcPct val="107000"/>
              </a:lnSpc>
              <a:spcAft>
                <a:spcPts val="800"/>
              </a:spcAft>
            </a:pPr>
            <a:r>
              <a:rPr lang="en-IN" sz="2100" kern="100" dirty="0">
                <a:effectLst/>
                <a:latin typeface="Calibri" panose="020F0502020204030204" pitchFamily="34" charset="0"/>
                <a:ea typeface="Calibri" panose="020F0502020204030204" pitchFamily="34" charset="0"/>
                <a:cs typeface="Latha" panose="020B0604020202020204" pitchFamily="34" charset="0"/>
              </a:rPr>
              <a:t>Once deployed, the model processes real-time video feeds from a webcam, </a:t>
            </a:r>
            <a:r>
              <a:rPr lang="en-IN" sz="2100" kern="100" dirty="0" err="1">
                <a:effectLst/>
                <a:latin typeface="Calibri" panose="020F0502020204030204" pitchFamily="34" charset="0"/>
                <a:ea typeface="Calibri" panose="020F0502020204030204" pitchFamily="34" charset="0"/>
                <a:cs typeface="Latha" panose="020B0604020202020204" pitchFamily="34" charset="0"/>
              </a:rPr>
              <a:t>analyzing</a:t>
            </a:r>
            <a:r>
              <a:rPr lang="en-IN" sz="2100" kern="100" dirty="0">
                <a:effectLst/>
                <a:latin typeface="Calibri" panose="020F0502020204030204" pitchFamily="34" charset="0"/>
                <a:ea typeface="Calibri" panose="020F0502020204030204" pitchFamily="34" charset="0"/>
                <a:cs typeface="Latha" panose="020B0604020202020204" pitchFamily="34" charset="0"/>
              </a:rPr>
              <a:t> each frame to identify safety compliance. If a worker is detected without a helmet, the system raises an immediate alert, ensuring swift action.</a:t>
            </a:r>
          </a:p>
          <a:p>
            <a:pPr marL="0" indent="0">
              <a:lnSpc>
                <a:spcPct val="107000"/>
              </a:lnSpc>
              <a:spcAft>
                <a:spcPts val="800"/>
              </a:spcAft>
              <a:buNone/>
            </a:pPr>
            <a:r>
              <a:rPr lang="en-IN" b="1" kern="100" dirty="0">
                <a:effectLst/>
                <a:latin typeface="Calibri" panose="020F0502020204030204" pitchFamily="34" charset="0"/>
                <a:ea typeface="Calibri" panose="020F0502020204030204" pitchFamily="34" charset="0"/>
                <a:cs typeface="Latha" panose="020B0604020202020204" pitchFamily="34" charset="0"/>
              </a:rPr>
              <a:t>Advantages:</a:t>
            </a:r>
            <a:endParaRPr lang="en-IN" kern="100" dirty="0">
              <a:effectLst/>
              <a:latin typeface="Calibri" panose="020F0502020204030204" pitchFamily="34" charset="0"/>
              <a:ea typeface="Calibri" panose="020F0502020204030204" pitchFamily="34" charset="0"/>
              <a:cs typeface="Latha"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000" b="1" kern="100" dirty="0">
                <a:effectLst/>
                <a:latin typeface="Calibri" panose="020F0502020204030204" pitchFamily="34" charset="0"/>
                <a:ea typeface="Calibri" panose="020F0502020204030204" pitchFamily="34" charset="0"/>
                <a:cs typeface="Latha" panose="020B0604020202020204" pitchFamily="34" charset="0"/>
              </a:rPr>
              <a:t>Real-time Monitoring:</a:t>
            </a:r>
            <a:r>
              <a:rPr lang="en-IN" sz="2000" kern="100" dirty="0">
                <a:effectLst/>
                <a:latin typeface="Calibri" panose="020F0502020204030204" pitchFamily="34" charset="0"/>
                <a:ea typeface="Calibri" panose="020F0502020204030204" pitchFamily="34" charset="0"/>
                <a:cs typeface="Latha" panose="020B0604020202020204" pitchFamily="34" charset="0"/>
              </a:rPr>
              <a:t> The model operates continuously, providing instant feedback to ensure that safety protocols are always followed.</a:t>
            </a:r>
          </a:p>
          <a:p>
            <a:pPr marL="342900" lvl="0" indent="-342900">
              <a:lnSpc>
                <a:spcPct val="107000"/>
              </a:lnSpc>
              <a:spcAft>
                <a:spcPts val="800"/>
              </a:spcAft>
              <a:buSzPts val="1000"/>
              <a:buFont typeface="Symbol" panose="05050102010706020507" pitchFamily="18" charset="2"/>
              <a:buChar char=""/>
              <a:tabLst>
                <a:tab pos="457200" algn="l"/>
              </a:tabLst>
            </a:pPr>
            <a:r>
              <a:rPr lang="en-IN" sz="2000" b="1" kern="100" dirty="0">
                <a:effectLst/>
                <a:latin typeface="Calibri" panose="020F0502020204030204" pitchFamily="34" charset="0"/>
                <a:ea typeface="Calibri" panose="020F0502020204030204" pitchFamily="34" charset="0"/>
                <a:cs typeface="Latha" panose="020B0604020202020204" pitchFamily="34" charset="0"/>
              </a:rPr>
              <a:t>High Accuracy:</a:t>
            </a:r>
            <a:r>
              <a:rPr lang="en-IN" sz="2000" kern="100" dirty="0">
                <a:effectLst/>
                <a:latin typeface="Calibri" panose="020F0502020204030204" pitchFamily="34" charset="0"/>
                <a:ea typeface="Calibri" panose="020F0502020204030204" pitchFamily="34" charset="0"/>
                <a:cs typeface="Latha" panose="020B0604020202020204" pitchFamily="34" charset="0"/>
              </a:rPr>
              <a:t> By using </a:t>
            </a:r>
            <a:r>
              <a:rPr lang="en-IN" sz="2000" kern="100" dirty="0" err="1">
                <a:effectLst/>
                <a:latin typeface="Calibri" panose="020F0502020204030204" pitchFamily="34" charset="0"/>
                <a:ea typeface="Calibri" panose="020F0502020204030204" pitchFamily="34" charset="0"/>
                <a:cs typeface="Latha" panose="020B0604020202020204" pitchFamily="34" charset="0"/>
              </a:rPr>
              <a:t>ViT</a:t>
            </a:r>
            <a:r>
              <a:rPr lang="en-IN" sz="2000" kern="100" dirty="0">
                <a:effectLst/>
                <a:latin typeface="Calibri" panose="020F0502020204030204" pitchFamily="34" charset="0"/>
                <a:ea typeface="Calibri" panose="020F0502020204030204" pitchFamily="34" charset="0"/>
                <a:cs typeface="Latha" panose="020B0604020202020204" pitchFamily="34" charset="0"/>
              </a:rPr>
              <a:t>, the model achieves superior accuracy compared to traditional methods, reducing false positives and negatives.</a:t>
            </a:r>
          </a:p>
          <a:p>
            <a:pPr marL="342900" lvl="0" indent="-342900">
              <a:lnSpc>
                <a:spcPct val="107000"/>
              </a:lnSpc>
              <a:spcAft>
                <a:spcPts val="800"/>
              </a:spcAft>
              <a:buSzPts val="1000"/>
              <a:buFont typeface="Symbol" panose="05050102010706020507" pitchFamily="18" charset="2"/>
              <a:buChar char=""/>
              <a:tabLst>
                <a:tab pos="457200" algn="l"/>
              </a:tabLst>
            </a:pPr>
            <a:r>
              <a:rPr lang="en-IN" sz="2000" b="1" kern="100" dirty="0">
                <a:effectLst/>
                <a:latin typeface="Calibri" panose="020F0502020204030204" pitchFamily="34" charset="0"/>
                <a:ea typeface="Calibri" panose="020F0502020204030204" pitchFamily="34" charset="0"/>
                <a:cs typeface="Latha" panose="020B0604020202020204" pitchFamily="34" charset="0"/>
              </a:rPr>
              <a:t>Scalability:</a:t>
            </a:r>
            <a:r>
              <a:rPr lang="en-IN" sz="2000" kern="100" dirty="0">
                <a:effectLst/>
                <a:latin typeface="Calibri" panose="020F0502020204030204" pitchFamily="34" charset="0"/>
                <a:ea typeface="Calibri" panose="020F0502020204030204" pitchFamily="34" charset="0"/>
                <a:cs typeface="Latha" panose="020B0604020202020204" pitchFamily="34" charset="0"/>
              </a:rPr>
              <a:t> The system can be easily integrated with existing security cameras across multiple sites, making it scalable for large-scale industrial use.</a:t>
            </a:r>
          </a:p>
          <a:p>
            <a:pPr marL="342900" lvl="0" indent="-342900">
              <a:lnSpc>
                <a:spcPct val="107000"/>
              </a:lnSpc>
              <a:spcAft>
                <a:spcPts val="800"/>
              </a:spcAft>
              <a:buSzPts val="1000"/>
              <a:buFont typeface="Symbol" panose="05050102010706020507" pitchFamily="18" charset="2"/>
              <a:buChar char=""/>
              <a:tabLst>
                <a:tab pos="457200" algn="l"/>
              </a:tabLst>
            </a:pPr>
            <a:r>
              <a:rPr lang="en-IN" sz="2000" b="1" kern="100" dirty="0">
                <a:effectLst/>
                <a:latin typeface="Calibri" panose="020F0502020204030204" pitchFamily="34" charset="0"/>
                <a:ea typeface="Calibri" panose="020F0502020204030204" pitchFamily="34" charset="0"/>
                <a:cs typeface="Latha" panose="020B0604020202020204" pitchFamily="34" charset="0"/>
              </a:rPr>
              <a:t>Automation:</a:t>
            </a:r>
            <a:r>
              <a:rPr lang="en-IN" sz="2000" kern="100" dirty="0">
                <a:effectLst/>
                <a:latin typeface="Calibri" panose="020F0502020204030204" pitchFamily="34" charset="0"/>
                <a:ea typeface="Calibri" panose="020F0502020204030204" pitchFamily="34" charset="0"/>
                <a:cs typeface="Latha" panose="020B0604020202020204" pitchFamily="34" charset="0"/>
              </a:rPr>
              <a:t> It automates the safety check process, minimizing the need for manual oversight and reducing the risk of human error.</a:t>
            </a:r>
          </a:p>
          <a:p>
            <a:endParaRPr lang="en-IN" sz="1800" dirty="0">
              <a:solidFill>
                <a:schemeClr val="tx2"/>
              </a:solidFill>
            </a:endParaRPr>
          </a:p>
        </p:txBody>
      </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169651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AAC1D6D0-DB42-E2AF-A288-075ACE88EF48}"/>
              </a:ext>
            </a:extLst>
          </p:cNvPr>
          <p:cNvSpPr>
            <a:spLocks noGrp="1"/>
          </p:cNvSpPr>
          <p:nvPr>
            <p:ph type="title"/>
          </p:nvPr>
        </p:nvSpPr>
        <p:spPr>
          <a:xfrm>
            <a:off x="794767" y="-132886"/>
            <a:ext cx="9833548" cy="1330184"/>
          </a:xfrm>
        </p:spPr>
        <p:txBody>
          <a:bodyPr anchor="b">
            <a:normAutofit/>
          </a:bodyPr>
          <a:lstStyle/>
          <a:p>
            <a:r>
              <a:rPr lang="en-IN" sz="3600" b="1" dirty="0">
                <a:solidFill>
                  <a:schemeClr val="tx2"/>
                </a:solidFill>
              </a:rPr>
              <a:t>Future Implementation</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B7C4A697-0400-0F6F-F1B0-C420A282C61D}"/>
              </a:ext>
            </a:extLst>
          </p:cNvPr>
          <p:cNvSpPr>
            <a:spLocks noGrp="1"/>
          </p:cNvSpPr>
          <p:nvPr>
            <p:ph idx="1"/>
          </p:nvPr>
        </p:nvSpPr>
        <p:spPr>
          <a:xfrm>
            <a:off x="794767" y="1474434"/>
            <a:ext cx="10602466" cy="4851360"/>
          </a:xfrm>
        </p:spPr>
        <p:txBody>
          <a:bodyPr>
            <a:normAutofit/>
          </a:bodyPr>
          <a:lstStyle/>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Latha" panose="020B0604020202020204" pitchFamily="34" charset="0"/>
              </a:rPr>
              <a:t>While our current model effectively identifies whether a worker is wearing a hard hat using basic webcam integration, future developments aim to enhance its capabilities and extend its applications. One key focus will be improving the model's accuracy and speed by incorporating more advanced datasets that cover a wider range of safety equipment, such as safety goggles, vests, and gloves.</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Latha" panose="020B0604020202020204" pitchFamily="34" charset="0"/>
              </a:rPr>
              <a:t>We plan to upgrade the model to support higher-resolution cameras and integrate it with more sophisticated real-time video analysis frameworks like OpenCV for faster and more accurate detection. Additionally, implementing edge computing solutions will allow the model to operate efficiently on-site, reducing latency and improving response times.</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Latha" panose="020B0604020202020204" pitchFamily="34" charset="0"/>
              </a:rPr>
              <a:t>Another significant enhancement involves developing a robust web or mobile interface using frameworks like Flask or Django, making the system accessible and user-friendly for supervisors and safety officers. Ultimately, the goal is to create a comprehensive safety monitoring system that can be deployed across multiple industrial sites, ensuring compliance with safety regulations and significantly reducing the risk of workplace accidents.</a:t>
            </a:r>
          </a:p>
          <a:p>
            <a:endParaRPr lang="en-IN" sz="1800" dirty="0">
              <a:solidFill>
                <a:schemeClr val="tx2"/>
              </a:solidFill>
            </a:endParaRPr>
          </a:p>
        </p:txBody>
      </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791484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153</TotalTime>
  <Words>540</Words>
  <Application>Microsoft Office PowerPoint</Application>
  <PresentationFormat>Widescreen</PresentationFormat>
  <Paragraphs>17</Paragraphs>
  <Slides>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Amasis MT Pro Light</vt:lpstr>
      <vt:lpstr>Aptos</vt:lpstr>
      <vt:lpstr>Aptos Display</vt:lpstr>
      <vt:lpstr>Arial</vt:lpstr>
      <vt:lpstr>Calibri</vt:lpstr>
      <vt:lpstr>Symbol</vt:lpstr>
      <vt:lpstr>Office Theme</vt:lpstr>
      <vt:lpstr>Safety Equipment Detection model using Vision Transformer</vt:lpstr>
      <vt:lpstr>Problem Statement</vt:lpstr>
      <vt:lpstr>Model working and Advantages</vt:lpstr>
      <vt:lpstr>Future Implementation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Shunmugam S</dc:creator>
  <cp:lastModifiedBy>Viraj Mankani</cp:lastModifiedBy>
  <cp:revision>5</cp:revision>
  <dcterms:created xsi:type="dcterms:W3CDTF">2024-08-10T13:33:44Z</dcterms:created>
  <dcterms:modified xsi:type="dcterms:W3CDTF">2026-03-24T08:24:08Z</dcterms:modified>
</cp:coreProperties>
</file>